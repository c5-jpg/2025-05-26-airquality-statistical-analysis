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2B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1298448"/>
            <a:ext cx="6949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城市空气质量观测数据的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概率统计分析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49808" y="26974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概率论与数理统计课程 Pre 项目 · 2026-05-26</a:t>
            </a:r>
            <a:endParaRPr lang="en-US" sz="1400" dirty="0"/>
          </a:p>
        </p:txBody>
      </p:sp>
      <p:pic>
        <p:nvPicPr>
          <p:cNvPr id="5" name="Image 0" descr="/mnt/data/2026-05-26-air-quality-statistical-pre/outputs/figures/initial/03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7160" y="731520"/>
            <a:ext cx="3659560" cy="3063240"/>
          </a:xfrm>
          <a:prstGeom prst="rect">
            <a:avLst/>
          </a:prstGeom>
        </p:spPr>
      </p:pic>
      <p:pic>
        <p:nvPicPr>
          <p:cNvPr id="6" name="Image 1" descr="/mnt/data/2026-05-26-air-quality-statistical-pre/outputs/figures/advanced/06_regression_forest_standardiz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082" y="4005072"/>
            <a:ext cx="3226196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数据集与统计问题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65 天城市空气质量与气象/交通观测；核心变量：PM2.5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概率论与数理统计 Pre · 城市空气质量观测数据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7455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2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17007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日度观测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057400" y="12984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9E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57400" y="17007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分析维度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3429000" y="12984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9F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17007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缺失值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58368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研究问题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" y="2816352"/>
            <a:ext cx="480060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PM2.5 是否呈现右偏和尾部污染风险？</a:t>
            </a:r>
            <a:endParaRPr lang="en-US" sz="1400" dirty="0"/>
          </a:p>
          <a:p>
            <a:r>
              <a:rPr lang="en-US" sz="140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不同季节的空气质量差异是否显著？</a:t>
            </a:r>
            <a:endParaRPr lang="en-US" sz="1400" dirty="0"/>
          </a:p>
          <a:p>
            <a:r>
              <a:rPr lang="en-US" sz="140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气象因素与交通因素的相对贡献如何？</a:t>
            </a:r>
            <a:endParaRPr lang="en-US" sz="1400" dirty="0"/>
          </a:p>
          <a:p>
            <a:r>
              <a:rPr lang="en-US" sz="140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哪些条件组合下污染最严重？</a:t>
            </a:r>
            <a:endParaRPr lang="en-US" sz="1400" dirty="0"/>
          </a:p>
        </p:txBody>
      </p:sp>
      <p:pic>
        <p:nvPicPr>
          <p:cNvPr id="15" name="Image 0" descr="/mnt/data/2026-05-26-air-quality-statistical-pre/outputs/figures/initial/05_seasonal_zscore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462383"/>
            <a:ext cx="5852160" cy="365891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89320" y="574243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季节画像显示：冬季 PM2.5 明显上移，同时气温显著偏低，是后续建模必须控制的结构性维度。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79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可复现分析流程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从原始 Excel 到统计表、图像、TeX 报告与 PPTX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概率论与数理统计 Pre · 城市空气质量观测数据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7455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58952" y="118872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2B2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170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数据读取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67328" y="11978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Excel → CSV；变量类型校正；季节排序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58952" y="212140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E73"/>
                </a:solidFill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103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初阶可视化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67328" y="21305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分布、箱线/小提琴、相关矩阵、LOWESS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8952" y="3054096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9F00"/>
                </a:solidFill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0358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统计检验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67328" y="306324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正态性、ANOVA/Welch/Kruskal、相关检验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58952" y="398678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55E00"/>
                </a:solidFill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9684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回归建模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67328" y="39959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OLS + HC3；VIF；诊断；模型比较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58952" y="49194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79A7"/>
                </a:solidFill>
              </a:rPr>
              <a:t>05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9011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高阶探索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67328" y="49286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置换重要性、响应面、高污染画像</a:t>
            </a:r>
            <a:endParaRPr lang="en-US" sz="1150" dirty="0"/>
          </a:p>
        </p:txBody>
      </p:sp>
      <p:pic>
        <p:nvPicPr>
          <p:cNvPr id="22" name="Image 0" descr="/mnt/data/2026-05-26-air-quality-statistical-pre/outputs/figures/figure_mo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504470"/>
            <a:ext cx="3749040" cy="3702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2B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初阶可视化 1：PM2.5 的分布形态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右偏、尾部污染风险与概率分布拟合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概率论与数理统计 Pre · 城市空气质量观测数据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7455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50" dirty="0"/>
          </a:p>
        </p:txBody>
      </p:sp>
      <p:pic>
        <p:nvPicPr>
          <p:cNvPr id="7" name="Image 0" descr="/mnt/data/2026-05-26-air-quality-statistical-pre/outputs/figures/initial/01_pm25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62470"/>
            <a:ext cx="6309360" cy="4304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60920" y="12070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2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49.47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60920" y="16093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PM2.5 均值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8942832" y="12070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9E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39.20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942832" y="16093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中位数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10469880" y="12070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55E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154.4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0469880" y="16093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最大值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7360920" y="2423160"/>
            <a:ext cx="43434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PM2.5 呈右偏分布：均值高于中位数。</a:t>
            </a:r>
            <a:endParaRPr lang="en-US" sz="1320" dirty="0"/>
          </a:p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Gamma 分布 AIC 最低，优于正态拟合。</a:t>
            </a:r>
            <a:endParaRPr lang="en-US" sz="1320" dirty="0"/>
          </a:p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课程汇报中应强调“均值 + 尾部风险”。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7388352" y="510235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统计检验：Shapiro-Wilk 检验支持 PM2.5 非正态；分布拟合以 AIC 比较。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9F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初阶可视化 2：季节差异非常强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ANOVA / Welch ANOVA / Kruskal-Wallis 三重验证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概率论与数理统计 Pre · 城市空气质量观测数据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7455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50" dirty="0"/>
          </a:p>
        </p:txBody>
      </p:sp>
      <p:pic>
        <p:nvPicPr>
          <p:cNvPr id="7" name="Image 0" descr="/mnt/data/2026-05-26-air-quality-statistical-pre/outputs/figures/initial/02_season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09232"/>
            <a:ext cx="5943600" cy="4102376"/>
          </a:xfrm>
          <a:prstGeom prst="rect">
            <a:avLst/>
          </a:prstGeom>
        </p:spPr>
      </p:pic>
      <p:pic>
        <p:nvPicPr>
          <p:cNvPr id="8" name="Image 1" descr="/mnt/data/2026-05-26-air-quality-statistical-pre/outputs/figures/advanced/12_season_pairwise_pvalu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374" y="1078992"/>
            <a:ext cx="4243811" cy="3794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0" y="5074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9F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η²=0.717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7132320" y="5477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季节效应量</a:t>
            </a:r>
            <a:endParaRPr lang="en-US" sz="920" dirty="0"/>
          </a:p>
        </p:txBody>
      </p:sp>
      <p:sp>
        <p:nvSpPr>
          <p:cNvPr id="11" name="Text 7"/>
          <p:cNvSpPr/>
          <p:nvPr/>
        </p:nvSpPr>
        <p:spPr>
          <a:xfrm>
            <a:off x="9189720" y="5074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55E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p&lt;0.001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9189720" y="547725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三类检验一致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初阶可视化 3：多维相关结构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温度、风速、湿度、交通指数与 PM2.5 的关系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概率论与数理统计 Pre · 城市空气质量观测数据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7455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50" dirty="0"/>
          </a:p>
        </p:txBody>
      </p:sp>
      <p:pic>
        <p:nvPicPr>
          <p:cNvPr id="7" name="Image 0" descr="/mnt/data/2026-05-26-air-quality-statistical-pre/outputs/figures/initial/03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44873"/>
            <a:ext cx="4251960" cy="3559109"/>
          </a:xfrm>
          <a:prstGeom prst="rect">
            <a:avLst/>
          </a:prstGeom>
        </p:spPr>
      </p:pic>
      <p:pic>
        <p:nvPicPr>
          <p:cNvPr id="8" name="Image 1" descr="/mnt/data/2026-05-26-air-quality-statistical-pre/outputs/figures/initial/04_bivariate_lowess_pane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699" y="1078992"/>
            <a:ext cx="5877841" cy="4754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6016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最强双变量关系为气温与 PM2.5 的负相关（r=-0.756）；风速也呈显著负相关。湿度和交通指数为弱正相关。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79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回归框架：把季节、气象和交通放入同一模型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主模型使用 OLS + HC3 稳健标准误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概率论与数理统计 Pre · 城市空气质量观测数据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7455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</a:rPr>
              <a:t>主模型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6276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</a:rPr>
              <a:t>PM2.5 = β₀ + β₁气温 + β₂湿度 + β₃风速 + β₄交通指数 + γ季节 + 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2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0.891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41248" y="30083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完整模型 R²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944368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9E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0.877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944368" y="30083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调整 R²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047488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9F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12.71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47488" y="30083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样本内 RMSE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841248" y="3977640"/>
            <a:ext cx="640080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气象模型解释力已经较强，但加入季节后解释力大幅提升。</a:t>
            </a:r>
            <a:endParaRPr lang="en-US" sz="1320" dirty="0"/>
          </a:p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交通单独解释力弱；控制季节和气象后，交通指数仍呈正向效应。</a:t>
            </a:r>
            <a:endParaRPr lang="en-US" sz="1320" dirty="0"/>
          </a:p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交互项模型 AIC 更低，但课堂展示以可解释的完整加性模型为主。</a:t>
            </a:r>
            <a:endParaRPr lang="en-US" sz="1320" dirty="0"/>
          </a:p>
        </p:txBody>
      </p:sp>
      <p:pic>
        <p:nvPicPr>
          <p:cNvPr id="16" name="Image 0" descr="/mnt/data/2026-05-26-air-quality-statistical-pre/outputs/figures/advanced/08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548885"/>
            <a:ext cx="4251960" cy="26289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55E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高阶可视化 1：标准化效应森林图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控制其他变量后的边际效应强度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概率论与数理统计 Pre · 城市空气质量观测数据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7455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50" dirty="0"/>
          </a:p>
        </p:txBody>
      </p:sp>
      <p:pic>
        <p:nvPicPr>
          <p:cNvPr id="7" name="Image 0" descr="/mnt/data/2026-05-26-air-quality-statistical-pre/outputs/figures/advanced/06_regression_forest_standard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18190"/>
            <a:ext cx="6720840" cy="44764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261872"/>
            <a:ext cx="388620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0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冬季虚拟变量是最强正向结构性因素。</a:t>
            </a:r>
            <a:endParaRPr lang="en-US" sz="1300" dirty="0"/>
          </a:p>
          <a:p>
            <a:r>
              <a:rPr lang="en-US" sz="130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风速具有稳定负向效应，符合污染扩散机制。</a:t>
            </a:r>
            <a:endParaRPr lang="en-US" sz="1300" dirty="0"/>
          </a:p>
          <a:p>
            <a:r>
              <a:rPr lang="en-US" sz="130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湿度与交通指数在 HC3 稳健标准误下显著为正。</a:t>
            </a:r>
            <a:endParaRPr lang="en-US" sz="1300" dirty="0"/>
          </a:p>
          <a:p>
            <a:r>
              <a:rPr lang="en-US" sz="130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气温在加入季节后边际显著性下降，说明其作用与季节高度重叠。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62672" y="507492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颜色提示显著性：红色点表示 p&lt;0.05；灰色点表示未达到 5% 显著性。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2B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高阶可视化 2：模型诊断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残差形态基本可接受，但线性结构仍需谨慎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概率论与数理统计 Pre · 城市空气质量观测数据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7455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850" dirty="0"/>
          </a:p>
        </p:txBody>
      </p:sp>
      <p:pic>
        <p:nvPicPr>
          <p:cNvPr id="7" name="Image 0" descr="/mnt/data/2026-05-26-air-quality-statistical-pre/outputs/figures/advanced/07_model_diagnos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033" y="1078992"/>
            <a:ext cx="6303493" cy="5074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26680" y="1325880"/>
            <a:ext cx="384048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残差正态性：Shapiro p=0.428，JB p=0.566。</a:t>
            </a:r>
            <a:endParaRPr lang="en-US" sz="1320" dirty="0"/>
          </a:p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异方差：BP p=0.632，White p=0.483。</a:t>
            </a:r>
            <a:endParaRPr lang="en-US" sz="1320" dirty="0"/>
          </a:p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RESET p=0.015，提示可能存在非线性或交互结构。</a:t>
            </a:r>
            <a:endParaRPr lang="en-US" sz="1320" dirty="0"/>
          </a:p>
        </p:txBody>
      </p:sp>
      <p:pic>
        <p:nvPicPr>
          <p:cNvPr id="9" name="Image 1" descr="/mnt/data/2026-05-26-air-quality-statistical-pre/outputs/figures/advanced/09_rf_permutation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554" y="3520440"/>
            <a:ext cx="3299293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E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高阶可视化 3：非线性稳健性与响应面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随机森林用于探索，不替代可解释回归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概率论与数理统计 Pre · 城市空气质量观测数据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7455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50" dirty="0"/>
          </a:p>
        </p:txBody>
      </p:sp>
      <p:pic>
        <p:nvPicPr>
          <p:cNvPr id="7" name="Image 0" descr="/mnt/data/2026-05-26-air-quality-statistical-pre/outputs/figures/advanced/09_rf_permutation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8386"/>
            <a:ext cx="5303520" cy="3601187"/>
          </a:xfrm>
          <a:prstGeom prst="rect">
            <a:avLst/>
          </a:prstGeom>
        </p:spPr>
      </p:pic>
      <p:pic>
        <p:nvPicPr>
          <p:cNvPr id="8" name="Image 1" descr="/mnt/data/2026-05-26-air-quality-statistical-pre/outputs/figures/advanced/11_response_surface_traffic_w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20808"/>
            <a:ext cx="5257800" cy="44963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58064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非线性模型同样指向气温、季节与风速的重要性；响应面用于展示交通指数与扩散条件组合下的污染风险。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55E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污染最严重条件：Top 20% 高污染画像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阈值：PM2.5 ≥ 74.14 μg/m³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概率论与数理统计 Pre · 城市空气质量观测数据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7455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850" dirty="0"/>
          </a:p>
        </p:txBody>
      </p:sp>
      <p:pic>
        <p:nvPicPr>
          <p:cNvPr id="7" name="Image 0" descr="/mnt/data/2026-05-26-air-quality-statistical-pre/outputs/figures/advanced/10_high_pollution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146"/>
            <a:ext cx="5669280" cy="37219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12618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55E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-15.5°C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90372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高污染日平均气温差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9235440" y="1261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9F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+7.3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923544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高污染日交通指数差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6995160" y="2724912"/>
            <a:ext cx="43434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高污染日更偏向低温情境。</a:t>
            </a:r>
            <a:endParaRPr lang="en-US" sz="1320" dirty="0"/>
          </a:p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交通指数均值更高，提示人为活动贡献。</a:t>
            </a:r>
            <a:endParaRPr lang="en-US" sz="1320" dirty="0"/>
          </a:p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风速略低，符合弱扩散条件下污染累积逻辑。</a:t>
            </a:r>
            <a:endParaRPr lang="en-US" sz="1320" dirty="0"/>
          </a:p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湿度更高但差异未达到常规显著性水平。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结论：可讲成三条统计故事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分布风险、季节结构、气象-交通共同解释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概率论与数理统计 Pre · 城市空气质量观测数据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74552" y="6419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2618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2B2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23444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</a:rPr>
              <a:t>PM2.5 不是正态小波动，而是右偏、有尾部风险的污染变量。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9F00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30428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</a:rPr>
              <a:t>季节差异显著且效应量很大，冬季是最核心的结构性维度。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4015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E73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374136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</a:rPr>
              <a:t>控制季节后，风速、湿度、交通指数仍能解释 PM2.5 的边际变化。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4709160"/>
            <a:ext cx="95097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样本仅 65 天，适合课程统计汇报，不宜直接外推为城市长期治理因果结论。</a:t>
            </a:r>
            <a:endParaRPr lang="en-US" sz="1320" dirty="0"/>
          </a:p>
          <a:p>
            <a:r>
              <a:rPr lang="en-US" sz="1320" dirty="0">
                <a:solidFill>
                  <a:srgbClr val="1616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建议答辩时先讲“分布风险”，再讲“季节检验”，最后讲“回归与高污染画像”。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Course Pre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城市空气质量观测数据的概率统计分析</dc:title>
  <dc:subject>Air quality probability and statistics analysis</dc:subject>
  <dc:creator>OpenAI</dc:creator>
  <cp:lastModifiedBy>OpenAI</cp:lastModifiedBy>
  <cp:revision>1</cp:revision>
  <dcterms:created xsi:type="dcterms:W3CDTF">2026-05-26T15:25:17Z</dcterms:created>
  <dcterms:modified xsi:type="dcterms:W3CDTF">2026-05-26T15:25:17Z</dcterms:modified>
</cp:coreProperties>
</file>